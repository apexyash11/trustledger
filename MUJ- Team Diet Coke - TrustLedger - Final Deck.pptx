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8"/>
  </p:normalViewPr>
  <p:slideViewPr>
    <p:cSldViewPr snapToGrid="0" snapToObjects="1">
      <p:cViewPr varScale="1">
        <p:scale>
          <a:sx n="107" d="100"/>
          <a:sy n="107" d="100"/>
        </p:scale>
        <p:origin x="76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hyperlink" Target="https://www.loom.com/share/0f52d716b0e04ad0907cbadcb0e97d99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github.com/ApexYash11/TrustLedger" TargetMode="Externa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457200" cy="457200"/>
          </a:xfrm>
          <a:prstGeom prst="roundRect">
            <a:avLst>
              <a:gd name="adj" fmla="val 28000"/>
            </a:avLst>
          </a:prstGeom>
          <a:noFill/>
          <a:ln w="27940">
            <a:solidFill>
              <a:srgbClr val="F5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2396" y="969264"/>
            <a:ext cx="338328" cy="25146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2396" y="859536"/>
            <a:ext cx="137160" cy="25146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2396" y="1060704"/>
            <a:ext cx="201168" cy="25146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7955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3F0"/>
                </a:solidFill>
                <a:latin typeface="Instrument Sans"/>
              </a:rPr>
              <a:t>TrustLedger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0112" y="822960"/>
            <a:ext cx="132588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40112" y="873252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27A46"/>
                </a:solidFill>
                <a:latin typeface="JetBrains Mono"/>
              </a:rPr>
              <a:t>sealed ·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7A46"/>
                </a:solidFill>
                <a:latin typeface="JetBrains Mono"/>
              </a:rPr>
              <a:t>// DELOITTE CAPSTONE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5F3F0"/>
                </a:solidFill>
                <a:latin typeface="Instrument Sans"/>
              </a:rPr>
              <a:t>TrustLedger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015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A8A49C"/>
                </a:solidFill>
                <a:latin typeface="Instrument Sans"/>
              </a:rPr>
              <a:t>Enterprise AI Decision Audit &amp; Trust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60520"/>
            <a:ext cx="2377440" cy="12801"/>
          </a:xfrm>
          <a:prstGeom prst="rect">
            <a:avLst/>
          </a:prstGeom>
          <a:solidFill>
            <a:srgbClr val="22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7534D"/>
                </a:solidFill>
                <a:latin typeface="JetBrains Mono"/>
              </a:rPr>
              <a:t>The agent decides. TrustLedger records and verifies.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9A968F"/>
                </a:solidFill>
                <a:latin typeface="JetBrains Mono"/>
              </a:rPr>
              <a:t>Presented by:  </a:t>
            </a:r>
            <a:r>
              <a:rPr lang="en-US" sz="1100" b="1" dirty="0">
                <a:solidFill>
                  <a:srgbClr val="A8A49C"/>
                </a:solidFill>
                <a:latin typeface="JetBrains Mono"/>
              </a:rPr>
              <a:t>Team Diet Coke</a:t>
            </a:r>
            <a:endParaRPr sz="1100" b="1" dirty="0">
              <a:solidFill>
                <a:srgbClr val="A8A49C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968F"/>
                </a:solidFill>
                <a:latin typeface="Instrument Sans"/>
              </a:rPr>
              <a:t>Team Diet Coke  ·  Manipal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AI decides in seconds. Audits take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1993392"/>
            <a:ext cx="2322576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2013"/>
            <a:ext cx="232257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6C7886"/>
                </a:solidFill>
                <a:latin typeface="JetBrains Mono"/>
              </a:rPr>
              <a:t>BLACK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456285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57534D"/>
                </a:solidFill>
                <a:latin typeface="Instrument Sans"/>
              </a:rPr>
              <a:t>High-stakes AI decisions ship with no record of the evidence or reasoning behind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78308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8816" y="1993392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8816" y="2012013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96600F"/>
                </a:solidFill>
                <a:latin typeface="JetBrains Mono"/>
              </a:rPr>
              <a:t>COMPLIANCE DEBT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423160"/>
            <a:ext cx="456285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57534D"/>
                </a:solidFill>
                <a:latin typeface="Instrument Sans"/>
              </a:rPr>
              <a:t>Audit teams reconstruct what happened from chat logs, prompts and guesswork.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7280" y="3867912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533"/>
            <a:ext cx="30266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A83A29"/>
                </a:solidFill>
                <a:latin typeface="JetBrains Mono"/>
              </a:rPr>
              <a:t>NO DEFENSIBILITY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456285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57534D"/>
                </a:solidFill>
                <a:latin typeface="Instrument Sans"/>
              </a:rPr>
              <a:t>When a decision is challenged, teams can’t show why it was made </a:t>
            </a:r>
            <a:r>
              <a:rPr lang="en-IN" sz="16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600" b="0" dirty="0">
                <a:solidFill>
                  <a:srgbClr val="57534D"/>
                </a:solidFill>
                <a:latin typeface="Instrument Sans"/>
              </a:rPr>
              <a:t> or prove it hasn’t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65760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28816" y="386791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3886533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2B5FB8"/>
                </a:solidFill>
                <a:latin typeface="JetBrains Mono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297680"/>
            <a:ext cx="456285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57534D"/>
                </a:solidFill>
                <a:latin typeface="Instrument Sans"/>
              </a:rPr>
              <a:t>Every new AI agent multiplies the exposure. The firm needs one trust layer across all of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543032" cy="566928"/>
          </a:xfrm>
          <a:prstGeom prst="roundRect">
            <a:avLst>
              <a:gd name="adj" fmla="val 50000"/>
            </a:avLst>
          </a:prstGeom>
          <a:solidFill>
            <a:srgbClr val="1C1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6875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F3F0"/>
                </a:solidFill>
                <a:latin typeface="JetBrains Mono"/>
              </a:rPr>
              <a:t>DECIDE</a:t>
            </a:r>
            <a:r>
              <a:rPr sz="1100" b="0">
                <a:solidFill>
                  <a:srgbClr val="A8A49C"/>
                </a:solidFill>
                <a:latin typeface="JetBrains Mono"/>
              </a:rPr>
              <a:t>   minutes      →      </a:t>
            </a:r>
            <a:r>
              <a:rPr sz="1100" b="1">
                <a:solidFill>
                  <a:srgbClr val="F5F3F0"/>
                </a:solidFill>
                <a:latin typeface="JetBrains Mono"/>
              </a:rPr>
              <a:t>AUDIT</a:t>
            </a:r>
            <a:r>
              <a:rPr sz="1100" b="0">
                <a:solidFill>
                  <a:srgbClr val="A8A49C"/>
                </a:solidFill>
                <a:latin typeface="JetBrains Mono"/>
              </a:rPr>
              <a:t>   days      →      </a:t>
            </a:r>
            <a:r>
              <a:rPr sz="1100" b="1">
                <a:solidFill>
                  <a:srgbClr val="227A46"/>
                </a:solidFill>
                <a:latin typeface="JetBrains Mono"/>
              </a:rPr>
              <a:t>WITH TRUSTLEDGER</a:t>
            </a:r>
            <a:r>
              <a:rPr sz="1100" b="0">
                <a:solidFill>
                  <a:srgbClr val="A8A49C"/>
                </a:solidFill>
                <a:latin typeface="JetBrains Mono"/>
              </a:rPr>
              <a:t>  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1054303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0" dirty="0">
                <a:solidFill>
                  <a:srgbClr val="57534D"/>
                </a:solidFill>
                <a:latin typeface="Instrument Sans"/>
              </a:rPr>
              <a:t>\</a:t>
            </a:r>
            <a:endParaRPr sz="1100" b="1" dirty="0">
              <a:solidFill>
                <a:srgbClr val="23211E"/>
              </a:solidFill>
              <a:latin typeface="Instrument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02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23211E"/>
                </a:solidFill>
                <a:latin typeface="Instrument Sans"/>
              </a:rPr>
              <a:t>Enterprises are delegating decisions to AI </a:t>
            </a:r>
            <a:r>
              <a:rPr lang="en-IN" sz="28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2800" b="1" dirty="0">
                <a:solidFill>
                  <a:srgbClr val="23211E"/>
                </a:solidFill>
                <a:latin typeface="Instrument Sans"/>
              </a:rPr>
              <a:t>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15667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B5FB8"/>
                </a:solidFill>
                <a:latin typeface="JetBrains Mono"/>
              </a:rPr>
              <a:t>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consulting, banking, insurance now run AI on live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57984"/>
            <a:ext cx="834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credit, pricing, diligence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real consequences, real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2150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96600F"/>
                </a:solidFill>
                <a:latin typeface="JetBrains Mono"/>
              </a:rPr>
              <a:t>REGULATION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EU AI Act, DPDP and RBI demand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63824"/>
            <a:ext cx="834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what was decided, on what basis, and by whom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auditable on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2734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C7886"/>
                </a:solidFill>
                <a:latin typeface="JetBrains Mono"/>
              </a:rPr>
              <a:t>TODAY'S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4048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observability logs telemetry, not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69664"/>
            <a:ext cx="834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dashboards show latency and tokens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nothing captures the decision itself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3318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A29"/>
                </a:solidFill>
                <a:latin typeface="JetBrains Mono"/>
              </a:rPr>
              <a:t>THE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4632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a challenged decision costs days of reconstruction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175504"/>
            <a:ext cx="8348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if the context can be reconstructed at 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03 ·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What’s missing: a record of the decision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392424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2039112"/>
            <a:ext cx="2843784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80260"/>
            <a:ext cx="2843784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C7886"/>
                </a:solidFill>
                <a:latin typeface="JetBrains Mono"/>
              </a:rPr>
              <a:t>NO STANDARD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telemetry ≠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52928"/>
            <a:ext cx="2843784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D"/>
                </a:solidFill>
                <a:latin typeface="Instrument Sans"/>
              </a:rPr>
              <a:t>no standardized, tamper-evident capture of why an AI decided what it decided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392424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72584" y="2039112"/>
            <a:ext cx="2322576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2080260"/>
            <a:ext cx="2322576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96600F"/>
                </a:solidFill>
                <a:latin typeface="JetBrains Mono"/>
              </a:rPr>
              <a:t>NO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468880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audits are post-hoc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852928"/>
            <a:ext cx="284378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57534D"/>
                </a:solidFill>
                <a:latin typeface="Instrument Sans"/>
              </a:rPr>
              <a:t>context is gone by the time anyone looks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reconstruction, not observation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828800"/>
            <a:ext cx="3392424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47888" y="2039112"/>
            <a:ext cx="2523744" cy="274320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080260"/>
            <a:ext cx="2523744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83A29"/>
                </a:solidFill>
                <a:latin typeface="JetBrains Mono"/>
              </a:rPr>
              <a:t>NO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68880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logs lack who acted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52928"/>
            <a:ext cx="2843784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7534D"/>
                </a:solidFill>
                <a:latin typeface="Instrument Sans"/>
              </a:rPr>
              <a:t>without per-actor audit identity, a log is not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05430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A968F"/>
                </a:solidFill>
                <a:latin typeface="JetBrains Mono"/>
              </a:rPr>
              <a:t>So we asked:  </a:t>
            </a:r>
            <a:r>
              <a:rPr sz="1500" b="1" dirty="0">
                <a:solidFill>
                  <a:srgbClr val="23211E"/>
                </a:solidFill>
                <a:latin typeface="Instrument Sans"/>
              </a:rPr>
              <a:t>can we wrap existing AI agents and capture a verifiable decision record </a:t>
            </a:r>
            <a:r>
              <a:rPr lang="en-IN" sz="15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1500" b="1" dirty="0">
                <a:solidFill>
                  <a:srgbClr val="23211E"/>
                </a:solidFill>
                <a:latin typeface="Instrument Sans"/>
              </a:rPr>
              <a:t> in real time?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43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7534D"/>
                </a:solidFill>
                <a:latin typeface="Instrument Sans"/>
              </a:rPr>
              <a:t>This capstone builds and evaluates exactly that layer </a:t>
            </a:r>
            <a:r>
              <a:rPr lang="en-IN" sz="12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200" b="0" dirty="0">
                <a:solidFill>
                  <a:srgbClr val="57534D"/>
                </a:solidFill>
                <a:latin typeface="Instrument Sans"/>
              </a:rPr>
              <a:t> an MVP, live and demonstrable.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04 · RESEARCH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What we set out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7A46"/>
                </a:solidFill>
                <a:latin typeface="JetBrains Mono"/>
              </a:rPr>
              <a:t>O1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915667"/>
            <a:ext cx="146304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27A46"/>
                </a:solidFill>
                <a:latin typeface="JetBrains Mono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9125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standard, machine-readable decision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57984"/>
            <a:ext cx="91257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captured while the decision happens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not reconstructed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1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B5FB8"/>
                </a:solidFill>
                <a:latin typeface="JetBrains Mono"/>
              </a:rPr>
              <a:t>O2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834639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875787"/>
            <a:ext cx="146304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5FB8"/>
                </a:solidFill>
                <a:latin typeface="JetBrains Mono"/>
              </a:rPr>
              <a:t>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788920"/>
            <a:ext cx="9125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tamper-evident sealing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18103"/>
            <a:ext cx="9125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every record hash-chained; any post-seal edit is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764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6600F"/>
                </a:solidFill>
                <a:latin typeface="JetBrains Mono"/>
              </a:rPr>
              <a:t>O3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3794759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3835907"/>
            <a:ext cx="146304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96600F"/>
                </a:solidFill>
                <a:latin typeface="JetBrains Mono"/>
              </a:rPr>
              <a:t>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749039"/>
            <a:ext cx="9125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verification and replay in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078224"/>
            <a:ext cx="91257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audit teams self-serve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no engineering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A968F"/>
                </a:solidFill>
                <a:latin typeface="JetBrains Mono"/>
              </a:rPr>
              <a:t>Success = </a:t>
            </a:r>
            <a:r>
              <a:rPr sz="1300" b="1">
                <a:solidFill>
                  <a:srgbClr val="227A46"/>
                </a:solidFill>
                <a:latin typeface="Instrument Sans"/>
              </a:rPr>
              <a:t>a sealed decision record you can defend in a meeting, minutes after the fact.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Built like a product, verified like an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15667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C7886"/>
                </a:solidFill>
                <a:latin typeface="JetBrains Mono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design before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57984"/>
            <a:ext cx="834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PRD → data-driven schema → agent-based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2150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B5FB8"/>
                </a:solidFill>
                <a:latin typeface="JetBrains Mono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incremental weekly 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63824"/>
            <a:ext cx="8348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FastAPI + Next.js, shipped on a 4-week roadmap with review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2734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96600F"/>
                </a:solidFill>
                <a:latin typeface="JetBrains Mono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4048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synthetic, realistic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69664"/>
            <a:ext cx="834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16 records across every status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including one deliberately tampered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3318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27A46"/>
                </a:solidFill>
                <a:latin typeface="JetBrains Mono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4632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tested and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175504"/>
            <a:ext cx="8348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38 automated tests · security reviews (auth fail-closed, CORS, redaction) closed before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06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23211E"/>
                </a:solidFill>
                <a:latin typeface="Instrument Sans"/>
              </a:rPr>
              <a:t>Data &amp; tools </a:t>
            </a:r>
            <a:r>
              <a:rPr lang="en-IN" sz="28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2800" b="1" dirty="0">
                <a:solidFill>
                  <a:srgbClr val="23211E"/>
                </a:solidFill>
                <a:latin typeface="Instrument Sans"/>
              </a:rPr>
              <a:t> synthetic, safe, realistic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15667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B5FB8"/>
                </a:solidFill>
                <a:latin typeface="JetBrains Mono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16 seeded records across six industries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57984"/>
            <a:ext cx="834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real decision shapes, synthetic facts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no client data, privacy-safe by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2150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96600F"/>
                </a:solidFill>
                <a:latin typeface="JetBrains Mono"/>
              </a:rPr>
              <a:t>LIVE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OpenRouter · pinned gpt-4o-mini · temperature 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63824"/>
            <a:ext cx="8348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fresh records generated on demand in 4–10 s, streamed live (SSE)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2734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C7886"/>
                </a:solidFill>
                <a:latin typeface="JetBrains Mono"/>
              </a:rPr>
              <a:t>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4048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design docs · domain methodology DEL-RM-2026 · RBI circulars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69664"/>
            <a:ext cx="8348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scenario inputs reflect real consulting decision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3318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27A46"/>
                </a:solidFill>
                <a:latin typeface="JetBrains Mono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4632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PostgreSQL / SQLite · SHA-256 chain · Docker · API-key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175504"/>
            <a:ext cx="8348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7534D"/>
                </a:solidFill>
                <a:latin typeface="Instrument Sans"/>
              </a:rPr>
              <a:t>the full stack ships as one docker-compose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07 · FINDING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Capture at decision time closes the audit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895" y="1780276"/>
            <a:ext cx="5029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23211E"/>
                </a:solidFill>
                <a:latin typeface="Instrument Sans"/>
              </a:rPr>
              <a:t>Records captured DURING the decision are complete, contextual and cheap </a:t>
            </a:r>
            <a:r>
              <a:rPr lang="en-IN" sz="1400" b="1" dirty="0">
                <a:solidFill>
                  <a:srgbClr val="23211E"/>
                </a:solidFill>
                <a:latin typeface="Instrument Sans"/>
              </a:rPr>
              <a:t>-</a:t>
            </a:r>
            <a:endParaRPr sz="1400" b="1" dirty="0">
              <a:solidFill>
                <a:srgbClr val="23211E"/>
              </a:solidFill>
              <a:latin typeface="Instrument Sans"/>
            </a:endParaRPr>
          </a:p>
          <a:p>
            <a:pPr algn="l"/>
            <a:r>
              <a:rPr sz="1400" b="1" dirty="0">
                <a:solidFill>
                  <a:srgbClr val="23211E"/>
                </a:solidFill>
                <a:latin typeface="Instrument Sans"/>
              </a:rPr>
              <a:t>post-hoc reconstruction isn’t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895" y="2743200"/>
            <a:ext cx="53398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00" dirty="0">
                <a:solidFill>
                  <a:srgbClr val="9A968F"/>
                </a:solidFill>
                <a:latin typeface="JetBrains Mono"/>
              </a:rPr>
              <a:t>measured: </a:t>
            </a:r>
            <a:r>
              <a:rPr lang="en-IN" sz="1100" dirty="0">
                <a:latin typeface="JetBrains Mono"/>
              </a:rPr>
              <a:t>board answers instantly · full runs in 10-15 seconds</a:t>
            </a:r>
            <a:endParaRPr sz="1100" b="1" dirty="0"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6895" y="318439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227A46"/>
                </a:solidFill>
                <a:latin typeface="Instrument Sans"/>
              </a:rPr>
              <a:t>multi-day investigation  →  two-minute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895" y="3768552"/>
            <a:ext cx="50292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57534D"/>
                </a:solidFill>
                <a:latin typeface="Instrument Sans"/>
              </a:rPr>
              <a:t>Ask a research question and watch it happen </a:t>
            </a:r>
            <a:r>
              <a:rPr lang="en-IN" sz="115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50" b="0" dirty="0">
                <a:solidFill>
                  <a:srgbClr val="57534D"/>
                </a:solidFill>
                <a:latin typeface="Instrument Sans"/>
              </a:rPr>
              <a:t> this is the live part of the talk.</a:t>
            </a:r>
          </a:p>
        </p:txBody>
      </p:sp>
      <p:pic>
        <p:nvPicPr>
          <p:cNvPr id="13" name="Picture 12" descr="02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1" y="1858543"/>
            <a:ext cx="5852066" cy="3291787"/>
          </a:xfrm>
          <a:prstGeom prst="rect">
            <a:avLst/>
          </a:prstGeom>
          <a:ln w="9525">
            <a:solidFill>
              <a:srgbClr val="EAE8E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345888" y="5303575"/>
            <a:ext cx="51937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dirty="0">
                <a:solidFill>
                  <a:srgbClr val="57534D"/>
                </a:solidFill>
                <a:latin typeface="JetBrains Mono"/>
              </a:rPr>
              <a:t>the command center </a:t>
            </a:r>
            <a:r>
              <a:rPr lang="en-IN" sz="950" b="0" dirty="0">
                <a:solidFill>
                  <a:srgbClr val="57534D"/>
                </a:solidFill>
                <a:latin typeface="JetBrains Mono"/>
              </a:rPr>
              <a:t>-</a:t>
            </a:r>
            <a:r>
              <a:rPr sz="950" b="0" dirty="0">
                <a:solidFill>
                  <a:srgbClr val="57534D"/>
                </a:solidFill>
                <a:latin typeface="JetBrains Mono"/>
              </a:rPr>
              <a:t> every decision, its status and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08 · FINDING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23211E"/>
                </a:solidFill>
                <a:latin typeface="Instrument Sans"/>
              </a:rPr>
              <a:t>Tamper-evidence works </a:t>
            </a:r>
            <a:r>
              <a:rPr lang="en-IN" sz="28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2800" b="1" dirty="0">
                <a:solidFill>
                  <a:srgbClr val="23211E"/>
                </a:solidFill>
                <a:latin typeface="Instrument Sans"/>
              </a:rPr>
              <a:t>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3211E"/>
                </a:solidFill>
                <a:latin typeface="Instrument Sans"/>
              </a:rPr>
              <a:t>A SHA-256 chain makes any post-seal edit visible. </a:t>
            </a:r>
            <a:r>
              <a:rPr sz="1350" b="0">
                <a:solidFill>
                  <a:srgbClr val="57534D"/>
                </a:solidFill>
                <a:latin typeface="Instrument Sans"/>
              </a:rPr>
              <a:t>The seeded hero verifies clean; the deliberately tampered record fails loudly.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430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7534D"/>
                </a:solidFill>
                <a:latin typeface="Instrument Sans"/>
              </a:rPr>
              <a:t>And sealed is permanent: the API refuses edits and deletes </a:t>
            </a:r>
            <a:r>
              <a:rPr lang="en-IN" sz="12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200" b="0" dirty="0">
                <a:solidFill>
                  <a:srgbClr val="57534D"/>
                </a:solidFill>
                <a:latin typeface="Instrument Sans"/>
              </a:rPr>
              <a:t> </a:t>
            </a:r>
            <a:r>
              <a:rPr sz="1200" b="1" dirty="0">
                <a:solidFill>
                  <a:srgbClr val="A83A29"/>
                </a:solidFill>
                <a:latin typeface="JetBrains Mono"/>
              </a:rPr>
              <a:t>409 · TASK_SEALED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side by side, from the live app:</a:t>
            </a:r>
          </a:p>
        </p:txBody>
      </p:sp>
      <p:pic>
        <p:nvPicPr>
          <p:cNvPr id="9" name="Picture 8" descr="04-integrity-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54680"/>
            <a:ext cx="5166360" cy="2906077"/>
          </a:xfrm>
          <a:prstGeom prst="rect">
            <a:avLst/>
          </a:prstGeom>
          <a:ln w="9525">
            <a:solidFill>
              <a:srgbClr val="EAE8E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822960" y="6170485"/>
            <a:ext cx="51663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dirty="0">
                <a:solidFill>
                  <a:srgbClr val="227A46"/>
                </a:solidFill>
                <a:latin typeface="JetBrains Mono"/>
              </a:rPr>
              <a:t>✓ VERIFIED </a:t>
            </a:r>
            <a:r>
              <a:rPr lang="en-IN" sz="950" b="0" dirty="0">
                <a:solidFill>
                  <a:srgbClr val="227A46"/>
                </a:solidFill>
                <a:latin typeface="JetBrains Mono"/>
              </a:rPr>
              <a:t>-</a:t>
            </a:r>
            <a:r>
              <a:rPr sz="950" b="0" dirty="0">
                <a:solidFill>
                  <a:srgbClr val="227A46"/>
                </a:solidFill>
                <a:latin typeface="JetBrains Mono"/>
              </a:rPr>
              <a:t> hash recomputes, chain intact</a:t>
            </a:r>
          </a:p>
        </p:txBody>
      </p:sp>
      <p:pic>
        <p:nvPicPr>
          <p:cNvPr id="11" name="Picture 10" descr="05-integrity-tamp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154680"/>
            <a:ext cx="5166360" cy="2906077"/>
          </a:xfrm>
          <a:prstGeom prst="rect">
            <a:avLst/>
          </a:prstGeom>
          <a:ln w="9525">
            <a:solidFill>
              <a:srgbClr val="EAE8E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199632" y="6170485"/>
            <a:ext cx="51663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dirty="0">
                <a:solidFill>
                  <a:srgbClr val="A83A29"/>
                </a:solidFill>
                <a:latin typeface="JetBrains Mono"/>
              </a:rPr>
              <a:t>! TAMPER DETECTED </a:t>
            </a:r>
            <a:r>
              <a:rPr lang="en-IN" sz="950" b="0" dirty="0">
                <a:solidFill>
                  <a:srgbClr val="A83A29"/>
                </a:solidFill>
                <a:latin typeface="JetBrains Mono"/>
              </a:rPr>
              <a:t>-</a:t>
            </a:r>
            <a:r>
              <a:rPr sz="950" b="0" dirty="0">
                <a:solidFill>
                  <a:srgbClr val="A83A29"/>
                </a:solidFill>
                <a:latin typeface="JetBrains Mono"/>
              </a:rPr>
              <a:t> record edited after sealing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09 · FINDING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Trust needs identity and process, not just crypto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69948"/>
            <a:ext cx="164592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27A46"/>
                </a:solidFill>
                <a:latin typeface="JetBrains Mono"/>
              </a:rPr>
              <a:t>WHO ACTED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83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3211E"/>
                </a:solidFill>
                <a:latin typeface="Instrument Sans"/>
              </a:rPr>
              <a:t>every event carries the actor’s audit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93976"/>
            <a:ext cx="3657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57534D"/>
                </a:solidFill>
                <a:latin typeface="Instrument Sans"/>
              </a:rPr>
              <a:t>per-principal API keys </a:t>
            </a:r>
            <a:r>
              <a:rPr lang="en-IN" sz="105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050" b="0" dirty="0">
                <a:solidFill>
                  <a:srgbClr val="57534D"/>
                </a:solidFill>
                <a:latin typeface="Instrument Sans"/>
              </a:rPr>
              <a:t> the trail records who did what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11196"/>
            <a:ext cx="164592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96600F"/>
                </a:solidFill>
                <a:latin typeface="JetBrains Mono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243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3211E"/>
                </a:solidFill>
                <a:latin typeface="Instrument Sans"/>
              </a:rPr>
              <a:t>high-risk decisions route to a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935224"/>
            <a:ext cx="3657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57534D"/>
                </a:solidFill>
                <a:latin typeface="Instrument Sans"/>
              </a:rPr>
              <a:t>review triggers before sealing </a:t>
            </a:r>
            <a:r>
              <a:rPr lang="en-IN" sz="105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050" b="0" dirty="0">
                <a:solidFill>
                  <a:srgbClr val="57534D"/>
                </a:solidFill>
                <a:latin typeface="Instrument Sans"/>
              </a:rPr>
              <a:t> risk-ranked, not one-size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11296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52444"/>
            <a:ext cx="164592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B5FB8"/>
                </a:solidFill>
                <a:latin typeface="JetBrains Mono"/>
              </a:rPr>
              <a:t>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46557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3211E"/>
                </a:solidFill>
                <a:latin typeface="Instrument Sans"/>
              </a:rPr>
              <a:t>a run survives the browser closing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776472"/>
            <a:ext cx="3657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57534D"/>
                </a:solidFill>
                <a:latin typeface="Instrument Sans"/>
              </a:rPr>
              <a:t>background task + wall-clock budget </a:t>
            </a:r>
            <a:r>
              <a:rPr lang="en-IN" sz="105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050" b="0" dirty="0">
                <a:solidFill>
                  <a:srgbClr val="57534D"/>
                </a:solidFill>
                <a:latin typeface="Instrument Sans"/>
              </a:rPr>
              <a:t> no stranded records</a:t>
            </a:r>
          </a:p>
        </p:txBody>
      </p:sp>
      <p:pic>
        <p:nvPicPr>
          <p:cNvPr id="18" name="Picture 17" descr="03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4846320" cy="2726054"/>
          </a:xfrm>
          <a:prstGeom prst="rect">
            <a:avLst/>
          </a:prstGeom>
          <a:ln w="9525">
            <a:solidFill>
              <a:srgbClr val="EAE8E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6537960" y="4618863"/>
            <a:ext cx="4846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dirty="0">
                <a:solidFill>
                  <a:srgbClr val="9A968F"/>
                </a:solidFill>
                <a:latin typeface="JetBrains Mono"/>
              </a:rPr>
              <a:t>the sealed record </a:t>
            </a:r>
            <a:r>
              <a:rPr lang="en-IN" sz="950" b="0" dirty="0">
                <a:solidFill>
                  <a:srgbClr val="9A968F"/>
                </a:solidFill>
                <a:latin typeface="JetBrains Mono"/>
              </a:rPr>
              <a:t>-</a:t>
            </a:r>
            <a:r>
              <a:rPr sz="950" b="0" dirty="0">
                <a:solidFill>
                  <a:srgbClr val="9A968F"/>
                </a:solidFill>
                <a:latin typeface="JetBrains Mono"/>
              </a:rPr>
              <a:t> Summary · Decision Trail · Replay ·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10 ·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What this means for the 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1993392"/>
            <a:ext cx="2724912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2013"/>
            <a:ext cx="27249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227A46"/>
                </a:solidFill>
                <a:latin typeface="JetBrains Mono"/>
              </a:rPr>
              <a:t>FASTER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456285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57534D"/>
                </a:solidFill>
                <a:latin typeface="Instrument Sans"/>
              </a:rPr>
              <a:t>two-minute lookups instead of multi-day reconstructions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78308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8816" y="1993392"/>
            <a:ext cx="2724912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8816" y="2012013"/>
            <a:ext cx="27249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2B5FB8"/>
                </a:solidFill>
                <a:latin typeface="JetBrains Mono"/>
              </a:rPr>
              <a:t>DEFENSIBLE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423160"/>
            <a:ext cx="456285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57534D"/>
                </a:solidFill>
                <a:latin typeface="Instrument Sans"/>
              </a:rPr>
              <a:t>decisions you can show, replay and defend in a meeting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7280" y="386791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533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96600F"/>
                </a:solidFill>
                <a:latin typeface="JetBrains Mono"/>
              </a:rPr>
              <a:t>COMPLIANCE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45628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57534D"/>
                </a:solidFill>
                <a:latin typeface="Instrument Sans"/>
              </a:rPr>
              <a:t>records that satisfy EU AI Act · DPDP · RBI expectations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657600"/>
            <a:ext cx="5111496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A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28816" y="3867912"/>
            <a:ext cx="3127248" cy="274320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3886533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A83A29"/>
                </a:solidFill>
                <a:latin typeface="JetBrains Mono"/>
              </a:rPr>
              <a:t>TRUST AS AN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297680"/>
            <a:ext cx="45628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57534D"/>
                </a:solidFill>
                <a:latin typeface="Instrument Sans"/>
              </a:rPr>
              <a:t>the firm that can prove its AI is the one clients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7534D"/>
                </a:solidFill>
                <a:latin typeface="Instrument Sans"/>
              </a:rPr>
              <a:t>sold to the people who sign off: </a:t>
            </a:r>
            <a:r>
              <a:rPr sz="1100" b="1">
                <a:solidFill>
                  <a:srgbClr val="23211E"/>
                </a:solidFill>
                <a:latin typeface="Instrument Sans"/>
              </a:rPr>
              <a:t>risk officers · compliance teams · audit committees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11 ·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23211E"/>
                </a:solidFill>
                <a:latin typeface="Instrument Sans"/>
              </a:rPr>
              <a:t>What we know we haven’t solved </a:t>
            </a:r>
            <a:r>
              <a:rPr lang="en-IN" sz="28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2800" b="1" dirty="0">
                <a:solidFill>
                  <a:srgbClr val="23211E"/>
                </a:solidFill>
                <a:latin typeface="Instrument Sans"/>
              </a:rPr>
              <a:t> yet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15667"/>
            <a:ext cx="26517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A29"/>
                </a:solidFill>
                <a:latin typeface="JetBrains Mono"/>
              </a:rPr>
              <a:t>TAMPER-EVIDENT ≠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76626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the hash chain is unkeyed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157984"/>
            <a:ext cx="76626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anyone with DB write access could recompute the chain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HMAC keying is designed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21508"/>
            <a:ext cx="26517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96600F"/>
                </a:solidFill>
                <a:latin typeface="JetBrains Mono"/>
              </a:rPr>
              <a:t>ASSERTED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76626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cited sources come from the model, not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63824"/>
            <a:ext cx="76626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no fetch, no verification that a cited document exists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retrieval is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27348"/>
            <a:ext cx="26517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B5FB8"/>
                </a:solidFill>
                <a:latin typeface="JetBrains Mono"/>
              </a:rPr>
              <a:t>NON-DETERMINISM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40480"/>
            <a:ext cx="76626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the same question can return different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69664"/>
            <a:ext cx="76626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temperature pinned at 0.4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consistency across runs remains open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33188"/>
            <a:ext cx="26517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C7886"/>
                </a:solidFill>
                <a:latin typeface="JetBrains Mono"/>
              </a:rPr>
              <a:t>VERIFY-ON-READ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846320"/>
            <a:ext cx="76626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GET /decisions serves snapshots before verifying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5175504"/>
            <a:ext cx="76626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57534D"/>
                </a:solidFill>
                <a:latin typeface="Instrument Sans"/>
              </a:rPr>
              <a:t>a tampered record still reads clean on Summary </a:t>
            </a:r>
            <a:r>
              <a:rPr lang="en-IN" sz="1100" b="0" dirty="0">
                <a:solidFill>
                  <a:srgbClr val="57534D"/>
                </a:solidFill>
                <a:latin typeface="Instrument Sans"/>
              </a:rPr>
              <a:t>-</a:t>
            </a:r>
            <a:r>
              <a:rPr sz="1100" b="0" dirty="0">
                <a:solidFill>
                  <a:srgbClr val="57534D"/>
                </a:solidFill>
                <a:latin typeface="Instrument Sans"/>
              </a:rPr>
              <a:t> our top open 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12 · FUTURE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3211E"/>
                </a:solidFill>
                <a:latin typeface="Instrument Sans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3032" cy="10972"/>
          </a:xfrm>
          <a:prstGeom prst="rect">
            <a:avLst/>
          </a:prstGeom>
          <a:solidFill>
            <a:srgbClr val="EA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15667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27A46"/>
                </a:solidFill>
                <a:latin typeface="JetBrains Mono"/>
              </a:rPr>
              <a:t>TAMPER-PROOF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8348471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23211E"/>
                </a:solidFill>
                <a:latin typeface="Instrument Sans"/>
              </a:rPr>
              <a:t>keyed HMAC chain </a:t>
            </a:r>
            <a:r>
              <a:rPr lang="en-IN" sz="13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1300" b="1" dirty="0">
                <a:solidFill>
                  <a:srgbClr val="23211E"/>
                </a:solidFill>
                <a:latin typeface="Instrument Sans"/>
              </a:rPr>
              <a:t> tamper-proof, not just tamper-evident · verify-on-read on every fetch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8434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B5FB8"/>
                </a:solidFill>
                <a:latin typeface="JetBrains Mono"/>
              </a:rPr>
              <a:t>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RBAC with row-scoped roles · encryption at 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8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5302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96600F"/>
                </a:solidFill>
                <a:latin typeface="JetBrains Mono"/>
              </a:rP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66160"/>
            <a:ext cx="8348471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23211E"/>
                </a:solidFill>
                <a:latin typeface="Instrument Sans"/>
              </a:rPr>
              <a:t>retrieval-verified citations </a:t>
            </a:r>
            <a:r>
              <a:rPr lang="en-IN" sz="1300" b="1" dirty="0">
                <a:solidFill>
                  <a:srgbClr val="23211E"/>
                </a:solidFill>
                <a:latin typeface="Instrument Sans"/>
              </a:rPr>
              <a:t>-</a:t>
            </a:r>
            <a:r>
              <a:rPr sz="1300" b="1" dirty="0">
                <a:solidFill>
                  <a:srgbClr val="23211E"/>
                </a:solidFill>
                <a:latin typeface="Instrument Sans"/>
              </a:rPr>
              <a:t> sources that really exist, fetched and checked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805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52170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C7886"/>
                </a:solidFill>
                <a:latin typeface="JetBrains Mono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43484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more agent integrations · multi-model routing with pinned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4924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390388"/>
            <a:ext cx="1965960" cy="2011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A29"/>
                </a:solidFill>
                <a:latin typeface="JetBrains Mono"/>
              </a:rP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303520"/>
            <a:ext cx="834847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3211E"/>
                </a:solidFill>
                <a:latin typeface="Instrument Sans"/>
              </a:rPr>
              <a:t>compliance dashboards · exportable audit packs for regulators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A968F"/>
                </a:solidFill>
                <a:latin typeface="Instrument Sans"/>
              </a:rPr>
              <a:t>TrustLedger</a:t>
            </a:r>
            <a:r>
              <a:rPr sz="950" b="0">
                <a:solidFill>
                  <a:srgbClr val="9A968F"/>
                </a:solidFill>
                <a:latin typeface="Instrument Sans"/>
              </a:rPr>
              <a:t>   ·   Deloitte Capstone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9A968F"/>
                </a:solidFill>
                <a:latin typeface="JetBrains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7A46"/>
                </a:solidFill>
                <a:latin typeface="JetBrains Mono"/>
              </a:rPr>
              <a:t>// 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5F3F0"/>
                </a:solidFill>
                <a:latin typeface="Instrument Sans"/>
              </a:rPr>
              <a:t>The agent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27A46"/>
                </a:solidFill>
                <a:latin typeface="Instrument Sans"/>
              </a:rPr>
              <a:t>TrustLedger </a:t>
            </a:r>
            <a:r>
              <a:rPr sz="4000" b="1">
                <a:solidFill>
                  <a:srgbClr val="F5F3F0"/>
                </a:solidFill>
                <a:latin typeface="Instrument Sans"/>
              </a:rPr>
              <a:t>records and verifies.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2377440" cy="12801"/>
          </a:xfrm>
          <a:prstGeom prst="rect">
            <a:avLst/>
          </a:prstGeom>
          <a:solidFill>
            <a:srgbClr val="22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60020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C78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6C7886"/>
                </a:solidFill>
                <a:latin typeface="JetBrains Mono"/>
              </a:rP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4114800"/>
            <a:ext cx="160020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416052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5FB8"/>
                </a:solidFill>
                <a:latin typeface="JetBrains Mono"/>
              </a:rPr>
              <a:t>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4114800"/>
            <a:ext cx="169164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41605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B5FB8"/>
                </a:solidFill>
                <a:latin typeface="JetBrains Mono"/>
              </a:rPr>
              <a:t>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92824" y="4114800"/>
            <a:ext cx="196596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66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2824" y="4160520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96600F"/>
                </a:solidFill>
                <a:latin typeface="JetBrains Mono"/>
              </a:rPr>
              <a:t>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4114800"/>
            <a:ext cx="2423160" cy="34747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51392" y="416052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27A46"/>
                </a:solidFill>
                <a:latin typeface="JetBrains Mono"/>
              </a:rPr>
              <a:t>VERIFIED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515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dirty="0">
                <a:solidFill>
                  <a:srgbClr val="A8A49C"/>
                </a:solidFill>
                <a:latin typeface="Instrument Sans"/>
              </a:rPr>
              <a:t>AI decisions, auditable in minutes </a:t>
            </a:r>
            <a:r>
              <a:rPr lang="en-IN" sz="1700" b="0" dirty="0">
                <a:solidFill>
                  <a:srgbClr val="A8A49C"/>
                </a:solidFill>
                <a:latin typeface="Instrument Sans"/>
              </a:rPr>
              <a:t>-</a:t>
            </a:r>
            <a:r>
              <a:rPr sz="1700" b="0" dirty="0">
                <a:solidFill>
                  <a:srgbClr val="A8A49C"/>
                </a:solidFill>
                <a:latin typeface="Instrument Sans"/>
              </a:rPr>
              <a:t> tamper-evident by 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968F"/>
                </a:solidFill>
                <a:latin typeface="Instrument Sans"/>
              </a:rPr>
              <a:t>Team Diet Coke  ·  Manipal University Jaipur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23211E"/>
                </a:solidFill>
                <a:latin typeface="Instrument Sans"/>
              </a:rP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29000"/>
            <a:ext cx="2377440" cy="12801"/>
          </a:xfrm>
          <a:prstGeom prst="rect">
            <a:avLst/>
          </a:prstGeom>
          <a:solidFill>
            <a:srgbClr val="22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chemeClr val="accent3">
                    <a:lumMod val="50000"/>
                  </a:schemeClr>
                </a:solidFill>
                <a:latin typeface="Instrument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23993"/>
            <a:ext cx="105156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SzPct val="12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JetBrains Mon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ApexYash11/TrustLedger</a:t>
            </a:r>
            <a:br>
              <a:rPr lang="en-US" sz="1400" b="1" dirty="0">
                <a:solidFill>
                  <a:schemeClr val="tx2">
                    <a:lumMod val="75000"/>
                  </a:schemeClr>
                </a:solidFill>
                <a:latin typeface="JetBrains Mono"/>
              </a:rPr>
            </a:br>
            <a:endParaRPr lang="en-US" sz="1400" b="1" dirty="0">
              <a:solidFill>
                <a:schemeClr val="tx2">
                  <a:lumMod val="75000"/>
                </a:schemeClr>
              </a:solidFill>
              <a:latin typeface="JetBrains Mono"/>
            </a:endParaRPr>
          </a:p>
          <a:p>
            <a:pPr marL="285750" indent="-285750">
              <a:buSzPct val="120000"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IN" sz="1400" b="1" dirty="0">
                <a:solidFill>
                  <a:schemeClr val="tx2">
                    <a:lumMod val="7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Loom - Live Demo</a:t>
            </a:r>
            <a:endParaRPr lang="en-IN" sz="1400" b="1" dirty="0">
              <a:solidFill>
                <a:schemeClr val="tx2">
                  <a:lumMod val="75000"/>
                </a:schemeClr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 algn="l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sz="1400" b="1" dirty="0">
              <a:solidFill>
                <a:schemeClr val="tx2">
                  <a:lumMod val="75000"/>
                </a:schemeClr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968F"/>
                </a:solidFill>
                <a:latin typeface="Instrument Sans"/>
              </a:rPr>
              <a:t>Team Diet Coke  ·  Deloitte Capstone 2026  ·  Manipal University Jaipur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968F"/>
                </a:solidFill>
                <a:latin typeface="JetBrains Mono"/>
              </a:rPr>
              <a:t>The agent decides. TrustLedger records and verifies.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1201</Words>
  <Application>Microsoft Macintosh PowerPoint</Application>
  <PresentationFormat>Widescreen</PresentationFormat>
  <Paragraphs>194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Instrument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[BTECH-036-2023-24] SURYANSHI SINGH</cp:lastModifiedBy>
  <cp:revision>2</cp:revision>
  <dcterms:created xsi:type="dcterms:W3CDTF">2013-01-27T09:14:16Z</dcterms:created>
  <dcterms:modified xsi:type="dcterms:W3CDTF">2026-09-18T04:57:11Z</dcterms:modified>
  <cp:category/>
</cp:coreProperties>
</file>